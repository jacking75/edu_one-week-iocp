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charts/chart1.xml" ContentType="application/vnd.openxmlformats-officedocument.drawingml.chart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charts/chart2.xml" ContentType="application/vnd.openxmlformats-officedocument.drawingml.chart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Arial"/>
              </a:rPr>
              <a:t>7일간의 이해도 변화 (체감)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이해도</c:v>
                </c:pt>
              </c:strCache>
            </c:strRef>
          </c:tx>
          <c:spPr>
            <a:solidFill>
              <a:srgbClr val="00A6FB"/>
            </a:solidFill>
            <a:ln w="50800" cap="flat">
              <a:solidFill>
                <a:srgbClr val="00A6FB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0A6FB"/>
              </a:solidFill>
              <a:ln w="9525" cap="flat">
                <a:solidFill>
                  <a:srgbClr val="00A6FB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Day 1</c:v>
                  </c:pt>
                  <c:pt idx="1">
                    <c:v>Day 2</c:v>
                  </c:pt>
                  <c:pt idx="2">
                    <c:v>Day 3</c:v>
                  </c:pt>
                  <c:pt idx="3">
                    <c:v>Day 4</c:v>
                  </c:pt>
                  <c:pt idx="4">
                    <c:v>Day 5</c:v>
                  </c:pt>
                  <c:pt idx="5">
                    <c:v>Day 6</c:v>
                  </c:pt>
                  <c:pt idx="6">
                    <c:v>Day 7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10</c:v>
                </c:pt>
                <c:pt idx="1">
                  <c:v>25</c:v>
                </c:pt>
                <c:pt idx="2">
                  <c:v>40</c:v>
                </c:pt>
                <c:pt idx="3">
                  <c:v>55</c:v>
                </c:pt>
                <c:pt idx="4">
                  <c:v>70</c:v>
                </c:pt>
                <c:pt idx="5">
                  <c:v>85</c:v>
                </c:pt>
                <c:pt idx="6">
                  <c:v>95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B2545"/>
                </a:solidFill>
                <a:latin typeface="Arial"/>
              </a:defRPr>
            </a:pPr>
            <a:r>
              <a:rPr sz="1400" b="0" i="0" u="none" strike="noStrike">
                <a:solidFill>
                  <a:srgbClr val="0B2545"/>
                </a:solidFill>
                <a:latin typeface="Arial"/>
              </a:rPr>
              <a:t>테마별 챕터 수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주제 비중</c:v>
                </c:pt>
              </c:strCache>
            </c:strRef>
          </c:tx>
          <c:spPr>
            <a:solidFill>
              <a:srgbClr val="00A6F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네트워크 기초</c:v>
                  </c:pt>
                  <c:pt idx="1">
                    <c:v>버퍼·패킷</c:v>
                  </c:pt>
                  <c:pt idx="2">
                    <c:v>동기화·성능</c:v>
                  </c:pt>
                  <c:pt idx="3">
                    <c:v>아키텍처</c:v>
                  </c:pt>
                  <c:pt idx="4">
                    <c:v>실전 프로젝트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3</c:v>
                </c:pt>
                <c:pt idx="2">
                  <c:v>3</c:v>
                </c:pt>
                <c:pt idx="3">
                  <c:v>2</c:v>
                </c:pt>
                <c:pt idx="4">
                  <c:v>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09360"/>
            <a:ext cx="3657600" cy="54864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822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800" kern="0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BOOK INTRODUCTION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22960" y="14630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100584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</a:t>
            </a:r>
            <a:endParaRPr lang="en-US" sz="6400" dirty="0"/>
          </a:p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프로그래밍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" y="46177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C++20  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  Windows IOCP  ·  실전 게임 서버 아키텍처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822960" y="5212080"/>
            <a:ext cx="5029200" cy="9144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5303520"/>
            <a:ext cx="4846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20분 발표용 도서 소개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저자: 최흥배 (AI-Assisted)
</a:t>
            </a:r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대상: 게임 서버 개발자가 되기를 원하는 분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AGENDA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목차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064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64008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544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1554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개요와 학습 목표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400800" y="1554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책의 구성과 7일 학습 로드맵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331720"/>
            <a:ext cx="11064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31720"/>
            <a:ext cx="73152" cy="64008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331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1691640" y="2331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IOCP인가?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서버에서 IOCP가 필수인 이유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108960"/>
            <a:ext cx="11064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108960"/>
            <a:ext cx="73152" cy="64008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10896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1691640" y="31089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기술 톺아보기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6400800" y="310896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챕터별 주제와 핵심 기법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886200"/>
            <a:ext cx="11064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886200"/>
            <a:ext cx="73152" cy="64008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38862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691640" y="3886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종합 프로젝트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6400800" y="388620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오목 게임 서버/클라이언트 구현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663440"/>
            <a:ext cx="11064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663440"/>
            <a:ext cx="73152" cy="64008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6634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30" name="Text 28"/>
          <p:cNvSpPr/>
          <p:nvPr/>
        </p:nvSpPr>
        <p:spPr>
          <a:xfrm>
            <a:off x="1691640" y="46634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측정과 최적화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6400800" y="466344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TPS, Latency, 프로파일링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5440680"/>
            <a:ext cx="73152" cy="64008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4406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1691640" y="54406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및 질의응답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6400800" y="54406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책으로 무엇을 얻게 되는가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/ 41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한눈에 보기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6692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책은 무엇을 다루는가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2103120"/>
            <a:ext cx="5303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환경에서 </a:t>
            </a:r>
            <a:pPr indent="0" marL="0">
              <a:buNone/>
            </a:pPr>
            <a:r>
              <a:rPr lang="en-US" sz="1400" b="1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고성능 비동기 I/O 모델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 IOCP를 활용해 </a:t>
            </a:r>
            <a:pPr indent="0" marL="0">
              <a:buNone/>
            </a:pPr>
            <a:r>
              <a:rPr lang="en-US" sz="1400" b="1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수만 명 동시 접속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가능한 게임 서버를 </a:t>
            </a:r>
            <a:pPr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처음부터 끝까지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구현하는 실전서이다.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38328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키워드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7240" y="37033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9525">
            <a:solidFill>
              <a:srgbClr val="00A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703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Overlapped I/O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103120" y="37033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9525">
            <a:solidFill>
              <a:srgbClr val="00A6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103120" y="3703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AcceptEx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29000" y="37033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9525">
            <a:solidFill>
              <a:srgbClr val="00A6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3703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Ring Buffer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754880" y="37033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9525">
            <a:solidFill>
              <a:srgbClr val="00A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37033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Zero-Copy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1605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9525">
            <a:solidFill>
              <a:srgbClr val="00A6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160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103120" y="41605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9525">
            <a:solidFill>
              <a:srgbClr val="00A6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4160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 Model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429000" y="41605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9525">
            <a:solidFill>
              <a:srgbClr val="00A6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4160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 System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4160520"/>
            <a:ext cx="123444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9525">
            <a:solidFill>
              <a:srgbClr val="00A6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4160520"/>
            <a:ext cx="1234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Profiling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1554480"/>
            <a:ext cx="2423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492240" y="1554480"/>
            <a:ext cx="73152" cy="219456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3600" dirty="0"/>
          </a:p>
        </p:txBody>
      </p:sp>
      <p:sp>
        <p:nvSpPr>
          <p:cNvPr id="31" name="Text 29"/>
          <p:cNvSpPr/>
          <p:nvPr/>
        </p:nvSpPr>
        <p:spPr>
          <a:xfrm>
            <a:off x="649224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Chapters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9098280" y="1554480"/>
            <a:ext cx="2423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098280" y="1554480"/>
            <a:ext cx="73152" cy="219456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098280" y="192024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3600" dirty="0"/>
          </a:p>
        </p:txBody>
      </p:sp>
      <p:sp>
        <p:nvSpPr>
          <p:cNvPr id="35" name="Text 33"/>
          <p:cNvSpPr/>
          <p:nvPr/>
        </p:nvSpPr>
        <p:spPr>
          <a:xfrm>
            <a:off x="9098280" y="292608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Days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6492240" y="3931920"/>
            <a:ext cx="2423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492240" y="393192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92240" y="4297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C++20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6492240" y="5303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Language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9098280" y="3931920"/>
            <a:ext cx="242316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9098280" y="3931920"/>
            <a:ext cx="73152" cy="21945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098280" y="4297680"/>
            <a:ext cx="2423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</a:t>
            </a:r>
            <a:endParaRPr lang="en-US" sz="3600" dirty="0"/>
          </a:p>
        </p:txBody>
      </p:sp>
      <p:sp>
        <p:nvSpPr>
          <p:cNvPr id="43" name="Text 41"/>
          <p:cNvSpPr/>
          <p:nvPr/>
        </p:nvSpPr>
        <p:spPr>
          <a:xfrm>
            <a:off x="9098280" y="5303520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Platform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/ 41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 및 권장 개발 환경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최흥배 (Heungbae Choi)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77240" y="24688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AI-Assisted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30175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도서는 23년 경력의 </a:t>
            </a:r>
            <a:pPr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현직 게임 서버 개발자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 실무 경험과, AI를 활용한 </a:t>
            </a:r>
            <a:pPr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최신 학습 흐름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결합된 결과물이다.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777240" y="4937760"/>
            <a:ext cx="5120640" cy="1097280"/>
          </a:xfrm>
          <a:prstGeom prst="rect">
            <a:avLst/>
          </a:prstGeom>
          <a:solidFill>
            <a:srgbClr val="EFF6FF"/>
          </a:solidFill>
          <a:ln w="9525">
            <a:solidFill>
              <a:srgbClr val="00A6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507492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직접 부딪히며 검증한 패턴 위주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14400" y="544068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이론적인 설명만이 아닌, 실제로 동작하는 서버 코드를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줄씩 함께 완성해 가는 형태로 구성되어 있다.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09360" y="1554480"/>
            <a:ext cx="53035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554480"/>
            <a:ext cx="73152" cy="466344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개발 환경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537960" y="2194560"/>
            <a:ext cx="4937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537960" y="2194560"/>
            <a:ext cx="54864" cy="82296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22402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IDE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720840" y="24871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Studio 2022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720840" y="276148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Community 이상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37960" y="3154680"/>
            <a:ext cx="4937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37960" y="3154680"/>
            <a:ext cx="54864" cy="82296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20840" y="320040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Compiler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720840" y="344728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MSVC v143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20840" y="37216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C++20 지원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537960" y="4114800"/>
            <a:ext cx="4937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537960" y="4114800"/>
            <a:ext cx="54864" cy="82296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1605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20840" y="44074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10 / 11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720840" y="46817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Server 2019+ 가능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537960" y="5074920"/>
            <a:ext cx="493776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537960" y="5074920"/>
            <a:ext cx="54864" cy="82296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720840" y="512064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Library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720840" y="536752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Winsock2 + mswsock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6720840" y="56418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ws2_32.lib · mswsock.lib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/ 41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책으로 얻을 수 있는 것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08760"/>
            <a:ext cx="73152" cy="77724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55064"/>
            <a:ext cx="502920" cy="50292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550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63040" y="1600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동작 원리 깊이 이해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463040" y="19202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Completion-based 모델, OVERLAPPED, 워커 풀 구조를 커널 수준까지 이해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423160"/>
            <a:ext cx="73152" cy="7772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2569464"/>
            <a:ext cx="502920" cy="50292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463040" y="25146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가능한 서버 아키텍처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463040" y="28346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수만 명 동시 접속을 처리하는 아키텍처 패턴(Actor·Room·Worker)을 체득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3375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33756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3483864"/>
            <a:ext cx="502920" cy="50292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34838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463040" y="34290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성능 최적화 능력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463040" y="3749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Zero-Copy, Ring Buffer, Lock-Free, 프로파일링까지 실무 최적화 기법 습득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42519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48640" y="4251960"/>
            <a:ext cx="7315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77240" y="4398264"/>
            <a:ext cx="502920" cy="50292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7240" y="43982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463040" y="43434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완성된 게임 서버 1개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463040" y="46634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오목 게임 서버 + Win32 클라이언트를 처음부터 끝까지 직접 구현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51663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5166360"/>
            <a:ext cx="73152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77240" y="5312664"/>
            <a:ext cx="502920" cy="50292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77240" y="53126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1463040" y="52578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관점의 사고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1463040" y="55778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측정, 병목 분석, 장애 대응까지 "운영 가능한 서버"로 사고 확장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 / 41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7일 학습 로드맵 · 14개 챕터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3657600"/>
            <a:ext cx="10881360" cy="0"/>
          </a:xfrm>
          <a:prstGeom prst="line">
            <a:avLst/>
          </a:prstGeom>
          <a:noFill/>
          <a:ln w="254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88720" y="3520440"/>
            <a:ext cx="274320" cy="274320"/>
          </a:xfrm>
          <a:prstGeom prst="ellipse">
            <a:avLst/>
          </a:prstGeom>
          <a:solidFill>
            <a:srgbClr val="00A6F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55448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554480"/>
            <a:ext cx="73152" cy="192024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645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9436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이해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Ch1 ~ Ch2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40080" y="26517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개념, 환경 설정, Echo 서버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788920" y="3520440"/>
            <a:ext cx="274320" cy="274320"/>
          </a:xfrm>
          <a:prstGeom prst="ellipse">
            <a:avLst/>
          </a:prstGeom>
          <a:solidFill>
            <a:srgbClr val="FFB6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148840" y="411480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148840" y="4114800"/>
            <a:ext cx="73152" cy="19202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9456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194560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관리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194560" y="4937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Ch3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2240280" y="5212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AcceptEx, 세션 풀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389120" y="3520440"/>
            <a:ext cx="274320" cy="274320"/>
          </a:xfrm>
          <a:prstGeom prst="ellipse">
            <a:avLst/>
          </a:prstGeom>
          <a:solidFill>
            <a:srgbClr val="10B981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49040" y="155448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749040" y="1554480"/>
            <a:ext cx="73152" cy="1920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94760" y="1645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79476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버퍼 &amp; 패킷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79476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Ch4 ~ Ch5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840480" y="26517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Ring Buffer, 패킷 직렬화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989320" y="3520440"/>
            <a:ext cx="274320" cy="274320"/>
          </a:xfrm>
          <a:prstGeom prst="ellipse">
            <a:avLst/>
          </a:prstGeom>
          <a:solidFill>
            <a:srgbClr val="0B2545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349240" y="411480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349240" y="4114800"/>
            <a:ext cx="73152" cy="1920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394960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시스템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4937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Ch6 ~ Ch7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440680" y="5212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라우팅, 동기화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589520" y="3520440"/>
            <a:ext cx="274320" cy="274320"/>
          </a:xfrm>
          <a:prstGeom prst="ellipse">
            <a:avLst/>
          </a:prstGeom>
          <a:solidFill>
            <a:srgbClr val="EF444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949440" y="155448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949440" y="1554480"/>
            <a:ext cx="73152" cy="1920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95160" y="1645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99516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고성능/타이머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699516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Ch8 ~ Ch9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040880" y="26517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Zero-Copy, 타이머/하트비트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9189720" y="3520440"/>
            <a:ext cx="274320" cy="274320"/>
          </a:xfrm>
          <a:prstGeom prst="ellipse">
            <a:avLst/>
          </a:prstGeom>
          <a:solidFill>
            <a:srgbClr val="00A6F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549640" y="411480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549640" y="4114800"/>
            <a:ext cx="73152" cy="192024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595360" y="420624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6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595360" y="452628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595360" y="493776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Ch10 ~ Ch11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8641080" y="521208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 분리, 룸 시스템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10789920" y="3520440"/>
            <a:ext cx="274320" cy="274320"/>
          </a:xfrm>
          <a:prstGeom prst="ellipse">
            <a:avLst/>
          </a:prstGeom>
          <a:solidFill>
            <a:srgbClr val="FFB627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149840" y="1554480"/>
            <a:ext cx="1508760" cy="1920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10149840" y="1554480"/>
            <a:ext cx="73152" cy="19202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0195560" y="1645920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7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1019556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종합/검증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10195560" y="237744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Ch12 ~ Ch14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10241280" y="2651760"/>
            <a:ext cx="1325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오목 서버 · 클라 · 성능 측정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 / 41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01. 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누구를 위한 책인가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1064240" cy="128016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"네트워크 I/O를 어떻게 효율적으로 처리할 것인가"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 개발자의 여정은 바로 이 질문에서 시작된다.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3017520"/>
            <a:ext cx="5486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3017520"/>
            <a:ext cx="73152" cy="32004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54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이런 분께 추천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777240" y="370332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657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 기본 문법은 익혔지만, 멀티스레드·네트워크는 막막한 분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25196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06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 개발자로 커리어 전환을 준비 중인 백엔드 개발자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80060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~ 수만 명 동접을 처리하는 서버 구조가 궁금한 분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77240" y="5349240"/>
            <a:ext cx="201168" cy="20116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97280" y="5303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'동작은 하는' 서버에서 '운영되는' 서버로 발전하고 싶은 분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126480" y="3017520"/>
            <a:ext cx="548640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26480" y="3017520"/>
            <a:ext cx="73152" cy="32004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15468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사전 지식 (있으면 좋음)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355080" y="3703320"/>
            <a:ext cx="201168" cy="201168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3657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C++ 기본 (포인터, RAII, 스마트 포인터)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55080" y="4251960"/>
            <a:ext cx="201168" cy="201168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20624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TCP/IP 소켓 통신의 기초적 이해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55080" y="4800600"/>
            <a:ext cx="201168" cy="201168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75488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OS 기초 (스레드, 컨텍스트 스위칭, 메모리)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355080" y="5349240"/>
            <a:ext cx="201168" cy="201168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75120" y="5303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Studio 디버깅 기본기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 / 41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61520" cy="54864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 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IOCP인가?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Windows에서 대규모 동시 접속을 다루는 가장 강력한 무기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WHY IOCP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서버는 일반 서버와 다르다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일반 웹/파일 서버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Request → Response 패턴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단발성 통신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3337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 ms 단위 지연 허용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Stateless, 캐싱 가능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1440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수평 확장 비교적 용이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155448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1554480"/>
            <a:ext cx="73152" cy="4663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69164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92240" y="2331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지속적 연결, 양방향 실시간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92240" y="28346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한 명의 행동 → 다수에게 브로드캐스트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492240" y="33375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수십 ms 지연도 체감되는 민감성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92240" y="38404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방대한 in-memory 게임 상태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492240" y="43434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수만 명 동접 단일 프로세스 처리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/ 41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WHY IOCP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Windows의 I/O 모델 비교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1828800" cy="640080"/>
          </a:xfrm>
          <a:prstGeom prst="rect">
            <a:avLst/>
          </a:prstGeom>
          <a:solidFill>
            <a:srgbClr val="0B254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554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331720" y="1554480"/>
            <a:ext cx="3383280" cy="640080"/>
          </a:xfrm>
          <a:prstGeom prst="rect">
            <a:avLst/>
          </a:prstGeom>
          <a:solidFill>
            <a:srgbClr val="0B254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2316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특징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0" y="1554480"/>
            <a:ext cx="4572000" cy="640080"/>
          </a:xfrm>
          <a:prstGeom prst="rect">
            <a:avLst/>
          </a:prstGeom>
          <a:solidFill>
            <a:srgbClr val="0B254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5544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0287000" y="1554480"/>
            <a:ext cx="1463040" cy="640080"/>
          </a:xfrm>
          <a:prstGeom prst="rect">
            <a:avLst/>
          </a:prstGeom>
          <a:solidFill>
            <a:srgbClr val="0B2545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378440" y="15544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적합성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02920" y="219456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19456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Blocking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331720" y="2194560"/>
            <a:ext cx="3383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42316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단순, 직관적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715000" y="2194560"/>
            <a:ext cx="4572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219456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N개 = 동접 N명, 메모리 폭발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10287000" y="219456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378440" y="2194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02920" y="283464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28346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select()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331720" y="2834640"/>
            <a:ext cx="3383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I/O 멀티플렉싱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715000" y="2834640"/>
            <a:ext cx="4572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06440" y="283464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FD_SETSIZE 64 한계, 커널 복사 비용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10287000" y="283464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378440" y="28346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02920" y="347472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" y="34747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WSAAsyncSelect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331720" y="3474720"/>
            <a:ext cx="3383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316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Windows 메시지 기반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5715000" y="3474720"/>
            <a:ext cx="4572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06440" y="34747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스레드 처리, GUI용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0287000" y="347472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378440" y="34747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502920" y="4114800"/>
            <a:ext cx="18288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1148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WSAEventSelect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331720" y="4114800"/>
            <a:ext cx="33832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3160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객체 활용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715000" y="4114800"/>
            <a:ext cx="457200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06440" y="411480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64 이벤트, 매핑 복잡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0287000" y="411480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78440" y="4114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△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02920" y="4754880"/>
            <a:ext cx="182880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94360" y="4754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2331720" y="4754880"/>
            <a:ext cx="338328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423160" y="4754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완료(Completion) 기반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715000" y="4754880"/>
            <a:ext cx="457200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06440" y="4754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 난이도 ↑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10287000" y="4754880"/>
            <a:ext cx="14630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378440" y="475488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★ ★ ★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02920" y="5532120"/>
            <a:ext cx="11247120" cy="777240"/>
          </a:xfrm>
          <a:prstGeom prst="rect">
            <a:avLst/>
          </a:prstGeom>
          <a:solidFill>
            <a:srgbClr val="FFB627">
              <a:alpha val="20000"/>
            </a:srgbClr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40080" y="55778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Readiness 기반 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</a:t>
            </a:r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Completion 기반</a:t>
            </a:r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으로의 패러다임 전환이 IOCP의 본질이다.</a:t>
            </a:r>
            <a:endParaRPr lang="en-US" sz="1400" dirty="0"/>
          </a:p>
        </p:txBody>
      </p:sp>
      <p:sp>
        <p:nvSpPr>
          <p:cNvPr id="57" name="Shape 5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/ 41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WHY IOCP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IOCP의 4대 장점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737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173736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무제한 확장성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960" y="2468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Select 64개 한계 같은 인위적인 제약이 없다. 메모리가 허용하는 한 수만 개 소켓을 단일 Completion Port에 연결할 수 있다.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72200" y="155448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72200" y="1554480"/>
            <a:ext cx="73152" cy="219456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73736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7360920" y="1783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 스레드 모델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46520" y="246888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동접 N개에 N개 스레드가 아닌, CPU 코어 × 2개 워커 풀로 모두 처리한다. 컨텍스트 스위칭과 메모리 사용이 극적으로 줄어든다.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88620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88620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069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173736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모드 깊이 통합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22960" y="48006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모드 라이브러리가 아닌 Windows 커널의 일부로 구현되어 있다. 컨텍스트 스위칭 최소화, 캐시 효율 향상, 시스템 자원 최적화.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172200" y="388620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72200" y="3886200"/>
            <a:ext cx="73152" cy="2194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40690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3600" dirty="0"/>
          </a:p>
        </p:txBody>
      </p:sp>
      <p:sp>
        <p:nvSpPr>
          <p:cNvPr id="25" name="Text 23"/>
          <p:cNvSpPr/>
          <p:nvPr/>
        </p:nvSpPr>
        <p:spPr>
          <a:xfrm>
            <a:off x="7360920" y="41148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로드 밸런싱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446520" y="4800600"/>
            <a:ext cx="5029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워커가 대기 중일 때 가장 오래 대기한 스레드를 깨워 캐시 친화성을 높인다. 별도의 분배 로직 없이 커널이 알아서 처리.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 / 41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02. WHY IOCP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검증된 기술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IOCP를 사용하는 시스템들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77240" y="2240280"/>
            <a:ext cx="49377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3317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SQL Server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14400" y="26517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마이크로소프트 RDBMS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154680"/>
            <a:ext cx="49377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2461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Exchange Server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914400" y="3566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메시징/메일 서버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069080"/>
            <a:ext cx="49377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1605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914400" y="44805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Internet Information Services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983480"/>
            <a:ext cx="49377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507492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MMORPG 게임 서버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14400" y="53949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수많은 상용 게임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55448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26480" y="1554480"/>
            <a:ext cx="73152" cy="46634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55080" y="1691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동접 100,000명 시나리오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355080" y="22402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Thread-per-Connection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355080" y="25603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100,000개 스레드 필요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6355080" y="29718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 1 MB Stack ≈ 100 GB 메모리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컨텍스트 스위칭만으로 시스템 마비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55080" y="3703320"/>
            <a:ext cx="493776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840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355080" y="41605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16코어, 32 워커 충분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6355080" y="4572000"/>
            <a:ext cx="5120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≈ 32MB, 컨텍스트 스위칭 최소화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커널 큐를 통한 효율적 분배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 / 41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61520" cy="54864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 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챕터별 핵심 기술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 ~ 11 · IOCP 기반 게임 서버를 만드는 14단계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 시작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IOCP를 배워야 하는가 + 환경 설정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기초 개념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2606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주제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40080" y="3090672"/>
            <a:ext cx="164592" cy="164592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017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서버와 네트워크 I/O 모델 비교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502152"/>
            <a:ext cx="164592" cy="164592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4290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핵심 개념: Completion Port·OVERLAPPED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3913632"/>
            <a:ext cx="164592" cy="164592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8404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동작 원리와 아키텍처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25112"/>
            <a:ext cx="164592" cy="164592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4400" y="4251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Visual Studio 2022 / Windows 11 환경 구축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736592"/>
            <a:ext cx="164592" cy="164592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63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구성 · 로깅 · RAII 소켓 핸들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 포인트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492240" y="3108960"/>
            <a:ext cx="493776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629400" y="320040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IOCP 핵심 4 요소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1) Completion Port  (커널 객체)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2) Socket / File Handle Associate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3) OVERLAPPED 구조체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4) Worker Thread Pool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핵심 함수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CreateIoCompletionPort()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GetQueuedCompletionStatus()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PostQueuedCompletionStatus()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 / 41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기본 서버 구현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서버로 IOCP의 모든 흐름을 체험하기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1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핵심 API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49377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0040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CreateIoCompletionPort()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349300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 생성 + 핸들 연결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77240" y="3886200"/>
            <a:ext cx="49377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93192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GetQueuedCompletionStatus()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22452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완료 통지 수신 (워커 루프)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77240" y="4617720"/>
            <a:ext cx="49377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66344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PostQueuedCompletionStatus()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14400" y="495604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사용자 정의 완료 패킷 송신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" y="5349240"/>
            <a:ext cx="4937760" cy="6400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539496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A6F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WSARecv() / WSASend()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14400" y="5687568"/>
            <a:ext cx="4663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송수신 (Overlapped)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서버 동작 흐름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37960" y="3200400"/>
            <a:ext cx="320040" cy="3200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995160" y="3200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Listen Socket 생성 + IOCP 연결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537960" y="3657600"/>
            <a:ext cx="320040" cy="3200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3657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995160" y="36576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 풀 생성 (CPU × 2)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537960" y="4114800"/>
            <a:ext cx="320040" cy="3200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37960" y="41148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6995160" y="4114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accept() → 새 세션을 IOCP에 등록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537960" y="4572000"/>
            <a:ext cx="320040" cy="3200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37960" y="45720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995160" y="45720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WSARecv() 비동기 호출 (Pending)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6537960" y="5029200"/>
            <a:ext cx="320040" cy="3200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37960" y="50292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995160" y="50292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도착 → Completion 큐로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37960" y="5486400"/>
            <a:ext cx="320040" cy="32004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37960" y="5486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6995160" y="54864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Worker가 처리 → WSASend() 응답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 / 41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연결 관리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AcceptEx · 세션 객체 · 세션 풀 · 안전한 종료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확장성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AcceptEx의 비동기 Accept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77240" y="31089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 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accept()는 별도 스레드를 점유하고, 새 소켓을 매번 IOCP에 등록해야 한다.
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AcceptEx</a:t>
            </a:r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는 비동기로 다중 Accept를 큐잉할 수 있고, 첫 데이터까지 동시에 수신해 RTT를 줄인다.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77240" y="4663440"/>
            <a:ext cx="5120640" cy="1508760"/>
          </a:xfrm>
          <a:prstGeom prst="rect">
            <a:avLst/>
          </a:prstGeom>
          <a:solidFill>
            <a:srgbClr val="EFF6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80060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Accept 전용 스레드 불필요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 Accept 다중 큐잉 가능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워커 풀에서 통합 처리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풀 (Session Pool) 패턴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3291840"/>
            <a:ext cx="164592" cy="16459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객체와 소켓을 미리 N개 생성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794760"/>
            <a:ext cx="164592" cy="16459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703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연결될 때 풀에서 꺼내 재사용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297680"/>
            <a:ext cx="164592" cy="16459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42062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단편화·할당 지연 제거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4800600"/>
            <a:ext cx="164592" cy="16459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7091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 Count + RAII로 안전 해제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5303520"/>
            <a:ext cx="164592" cy="16459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52120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종료 / 좀비 세션 정리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 / 41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송수신 버퍼 관리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Partial Send/Recv 문제와 Ring Buffer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버퍼 설계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⚠  TCP는 스트림 프로토콜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108960"/>
            <a:ext cx="4937760" cy="15544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00400"/>
            <a:ext cx="46634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SEND  → 100 bytes (한 번에)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┊  TCP 단편화  ┊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RECV  ← 30 + 40 + 30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(여러 조각으로 도착)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75488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패킷의 "경계"는 애플리케이션이 직접 복원해야 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선형 버퍼는 memmove가 빈번해 비효율적이다.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Ring Buffer 구조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37960" y="331012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12280" y="32004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Read/Write 인덱스 모듈로 회전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37960" y="385876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37490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memmove 없이 순환적 데이터 관리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37960" y="440740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12280" y="429768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Wrap-around 시 Scatter 호출 한번에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37960" y="495604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84632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TLS 메모리 풀과 결합해 락 최소화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5504688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539496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Cache-line 정렬로 false sharing 회피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 / 41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설계와 직렬화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Header + Body 구조와 직렬화 / 엔디안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8바이트 고정 헤더 + 가변 바디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246120"/>
            <a:ext cx="1280160" cy="640080"/>
          </a:xfrm>
          <a:prstGeom prst="rect">
            <a:avLst/>
          </a:prstGeom>
          <a:solidFill>
            <a:srgbClr val="00A6FB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46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Size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2B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57400" y="3246120"/>
            <a:ext cx="1280160" cy="640080"/>
          </a:xfrm>
          <a:prstGeom prst="rect">
            <a:avLst/>
          </a:prstGeom>
          <a:solidFill>
            <a:srgbClr val="FFB627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324612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PacketID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2B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37560" y="3246120"/>
            <a:ext cx="23317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2461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Reserved (4B)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3931920"/>
            <a:ext cx="489204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3931920"/>
            <a:ext cx="4892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Payload (가변)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77240" y="45262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static_assert(sizeof(Header)==8)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#pragma pack(push, 1) 로 패딩 제거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reserved 필드는 압축·암호화 플래그·시퀀스로 확장 가능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직렬화의 함정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537960" y="31546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엔디안 차이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732520" y="31546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= Big Endian / Intel = Little Endian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37960" y="3749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구조체 패딩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32520" y="37490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컴파일러가 자동 추가하는 정렬 바이트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37960" y="43434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가변 길이 필드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732520" y="434340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문자열 / 컬렉션의 length-prefix 처리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37960" y="493776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버전 호환성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732520" y="4937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프로토콜 버전 변경 대응 전략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537960" y="55321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 입력 검증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732520" y="55321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size 값 → DoS 취약점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 / 41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처리 시스템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06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 · 조립 · 핸들러 라우팅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시스템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파싱 알고리즘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365760" cy="36576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154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154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버퍼에 헤더 크기(4B) 이상 있는지 확인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703320"/>
            <a:ext cx="365760" cy="36576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03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703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Peek으로 PacketSize 읽기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251960"/>
            <a:ext cx="365760" cy="36576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51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25196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PacketSize만큼 데이터가 모였는가?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800600"/>
            <a:ext cx="365760" cy="36576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00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8006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완전한 패킷 추출 → 핸들러 호출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5349240"/>
            <a:ext cx="365760" cy="36576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5349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280160" y="53492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데이터로 1번부터 반복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핸들러 라우팅 (Dispatch)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37960" y="3154680"/>
            <a:ext cx="493776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32461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std::unordered_map&lt;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PacketID,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std::function&lt;void(Session*, Packet&amp;)&gt;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handlers_;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등록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handlers_[PKT_LOGIN]   = OnLogin;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handlers_[PKT_MOVE]    = OnMove;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handlers_[PKT_CHAT]    = OnChat;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디스패치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 it = handlers_.find(packet.id());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(it != handlers_.end())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it-&gt;second(session, packet);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 / 41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환경에서의 스레드 동기화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07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Race · Lock 전략 · Lock-Free 자료구조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난이도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멀티 워커가 만드는 위험들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200400"/>
            <a:ext cx="493776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004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 Race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560320" y="32004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 세션 변수에 동시 접근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493776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749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Deadlock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560320" y="37490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락 획득 순서 불일치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4297680"/>
            <a:ext cx="493776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297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Priority Invert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42976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 대기 → IOCP 처리량 저하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7240" y="4846320"/>
            <a:ext cx="493776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4846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Sharing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560320" y="48463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캐시 라인 충돌로 성능 폭락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77240" y="5394960"/>
            <a:ext cx="4937760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394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ABA 문제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560320" y="53949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Lock-Free 구조의 미묘한 버그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동기화 전략 스펙트럼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6537960" y="320040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37960" y="320040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32004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std::atomic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412480" y="32004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단순 카운터 / 플래그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537960" y="374904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537960" y="374904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37490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SRWLock / Mutex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412480" y="374904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공유 자원 단순 보호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537960" y="429768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537960" y="429768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42976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Reader-Writer Lock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12480" y="42976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다수, 쓰기 소수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6537960" y="484632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37960" y="484632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48463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Lock-Free Queue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412480" y="48463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Producer-Consumer 핫패스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6537960" y="5394960"/>
            <a:ext cx="493776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537960" y="5394960"/>
            <a:ext cx="54864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675120" y="53949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Per-Session Lock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8412480" y="539496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단위 격리로 경합 완화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 / 41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Zero-Copy와 Scatter-Gather I/O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08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복사 4단계를 1단계로 줄이기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정점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송신: 4번의 복사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20040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200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20040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데이터 → 패킷 버퍼 복사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74904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374904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패킷 → 송신 큐 복사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29768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2976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29768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큐 → 링 버퍼 복사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4846320"/>
            <a:ext cx="365760" cy="3657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846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4846320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링 → 커널 버퍼 복사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5486400"/>
            <a:ext cx="4937760" cy="640080"/>
          </a:xfrm>
          <a:prstGeom prst="rect">
            <a:avLst/>
          </a:prstGeom>
          <a:solidFill>
            <a:srgbClr val="EF4444">
              <a:alpha val="20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486400"/>
            <a:ext cx="47548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사이클 + 캐시 오염 → 처리량 감소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Scatter-Gather + 참조 카운팅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6537960" y="3154680"/>
            <a:ext cx="4937760" cy="2286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75120" y="3246120"/>
            <a:ext cx="4663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WSASend 멀티 버퍼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WSABUF bufs[3];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bufs[0] = header;     // 헤더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bufs[1] = body_a;     // 공유 페이로드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bufs[2] = body_b;     // 추가 데이터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WSASend(s, bufs, 3, …);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→ 단일 시스템콜로 묶어 전송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동일 페이로드를 여러 세션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   송신에 그대로 재사용 가능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37960" y="5486400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브로드캐스트 시 동일 패킷 1개 → N 클라이언트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복사 1회로 끝나는 구조 = 진정한 Zero-Copy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 / 41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타이머와 하트비트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09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수만 개의 타이머를 효율적으로 다루기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 도메인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서버의 시간 기반 작업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291840"/>
            <a:ext cx="164592" cy="16459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200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버프/디버프 만료 처리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840480"/>
            <a:ext cx="164592" cy="16459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749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몬스터 리스폰 / AI 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389120"/>
            <a:ext cx="164592" cy="16459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297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하트비트 (연결 끊김 감지)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937760"/>
            <a:ext cx="164592" cy="16459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51560" y="4846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퀘스트 자정 초기화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486400"/>
            <a:ext cx="164592" cy="164592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5394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쿨다운, 자동저장, 점검 알림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효율적인 타이머 자료구조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537960" y="3154680"/>
            <a:ext cx="49377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Min-Heap Timer Queue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다음 만료 O(1), 추가 O(log n)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Hierarchical Timing Wheel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슬롯 순회 O(1), 대량 타이머에 유리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Cancellation Token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중간 취소 처리
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Post 패턴</a:t>
            </a:r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— 타이머 콜백을 워커 스레드로 위임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 / 41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로직 스레드 분리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10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I/O 스레드와 로직 스레드의 분업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아키텍처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 하나의 스레드가 다 하면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4937760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4612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Thread1: [Recv A] → [Logic A 20ms] → [Recv B]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Thread2: [Recv C] → [Recv D] → [Recv E]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↑ Logic 처리 중 Recv는 모두 지연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77240" y="461772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 스레드가 무거운 로직에 묶이면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다른 세션의 패킷 처리가 중단된다.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로직과 I/O 사이의 시간 결합이 발생한다.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  Actor 모델 + Job Queue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537960" y="3108960"/>
            <a:ext cx="4937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플레이어 / 몬스터 / 룸을 독립 Actor로.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통신은 메시지 큐를 통해서만.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537960" y="41148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40233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번에 하나의 메시지 처리 → 락 불필요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537960" y="46177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12280" y="45262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I/O 스레드는 receive → enqueue만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537960" y="51206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12280" y="50292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로직 스레드는 dequeue → 실행만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537960" y="56235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12280" y="55321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시 I/O · 로직을 독립적으로 튜닝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 / 41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룸(Room) 기반 게임 서버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공간의 N² 폭발을 룸으로 격리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확장 패턴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"룸"인가?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154680"/>
            <a:ext cx="4937760" cy="12801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4612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전역 공간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1명 이동 → 9,999명에게 브로드캐스트  →  </a:t>
            </a:r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O(N²)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4526280"/>
            <a:ext cx="4937760" cy="1554480"/>
          </a:xfrm>
          <a:prstGeom prst="rect">
            <a:avLst/>
          </a:prstGeom>
          <a:solidFill>
            <a:srgbClr val="EFF6FF"/>
          </a:solidFill>
          <a:ln w="9525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617720"/>
            <a:ext cx="47548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 기반
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4명 → 3명 브로드캐스트  →  </a:t>
            </a:r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O(R · M²)</a:t>
            </a:r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상태도 룸 단위로 격리되어 동기화 비용 급감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룸의 생명주기와 매핑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537960" y="32004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Created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772400" y="32004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Waiting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06840" y="32004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00684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0241280" y="3200400"/>
            <a:ext cx="1097280" cy="548640"/>
          </a:xfrm>
          <a:prstGeom prst="roundRect">
            <a:avLst>
              <a:gd name="adj" fmla="val 8333"/>
            </a:avLst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241280" y="32004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Finished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537960" y="4023360"/>
            <a:ext cx="493776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Hash(roomId) % logicThreadCnt → 같은 룸은 같은 스레드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룸 단위로 작업 큐를 두면 락 자체를 피할 수 있다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• Spectator(관전), 자동 매칭, 강퇴 등 모든 게임 모드 패턴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 / 41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61520" cy="54864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 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종합 프로젝트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12 ~ 14 · 오목 게임 서버를 직접 만든다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오목 게임 서버 설계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지금까지 배운 모든 것을 종합하는 프로젝트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기능 요구사항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273552"/>
            <a:ext cx="182880" cy="18288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200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 생성 / 입장 / 자동 매칭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3730752"/>
            <a:ext cx="182880" cy="18288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36576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턴 관리 (흑·백 교대)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77240" y="4187952"/>
            <a:ext cx="182880" cy="18288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114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착수 검증 (좌표/중복)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645152"/>
            <a:ext cx="182880" cy="18288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45720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5목 승패 판정 (실시간)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77240" y="5102352"/>
            <a:ext cx="182880" cy="18288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5029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기권·연결 끊김 처리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77240" y="5559552"/>
            <a:ext cx="182880" cy="18288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4864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관전 모드 / 게임 기록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패킷 (PacketId enum)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537960" y="3154680"/>
            <a:ext cx="4937760" cy="30175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3246120"/>
            <a:ext cx="46634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OmokPlaceStone        = 100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OmokPlaceStoneResult  = 101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OmokTurnStart         = 102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OmokGameStart         = 103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OmokGameEnd           = 104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OmokSurrender         = 105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OmokSpectate          = 106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OmokBoardSync         = 107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OmokChat              = 108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 / 41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종합 아키텍처 한눈에 보기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064240" cy="4572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14400" y="1828800"/>
            <a:ext cx="182880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1828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Listen / AcceptEx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14400" y="274320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00A6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743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914400" y="324612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00A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246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2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374904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00A6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749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3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4251960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EFF6FF"/>
          </a:solidFill>
          <a:ln w="6350">
            <a:solidFill>
              <a:srgbClr val="00A6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4251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Session 4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0" y="2286000"/>
            <a:ext cx="2743200" cy="2286000"/>
          </a:xfrm>
          <a:prstGeom prst="rect">
            <a:avLst/>
          </a:prstGeom>
          <a:solidFill>
            <a:srgbClr val="EF4444">
              <a:alpha val="20000"/>
            </a:srgbClr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0" y="228600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Completion Port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251960" y="3108960"/>
            <a:ext cx="118872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5196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1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32120" y="3108960"/>
            <a:ext cx="118872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32120" y="310896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2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251960" y="3749040"/>
            <a:ext cx="118872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51960" y="3749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3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532120" y="3749040"/>
            <a:ext cx="1188720" cy="5486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532120" y="374904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4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8229600" y="1828800"/>
            <a:ext cx="3200400" cy="64008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0" y="1828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 Thread Pool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29600" y="274320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0" y="2743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 1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[Job Queue]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921240" y="274320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921240" y="274320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 2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[Job Queue]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229600" y="384048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229600" y="3840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 3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[Job Queue]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9921240" y="3840480"/>
            <a:ext cx="1508760" cy="914400"/>
          </a:xfrm>
          <a:prstGeom prst="roundRect">
            <a:avLst>
              <a:gd name="adj" fmla="val 5000"/>
            </a:avLst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921240" y="384048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Room 4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[Job Queue]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2743200" y="3200400"/>
            <a:ext cx="13716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6858000" y="3200400"/>
            <a:ext cx="1371600" cy="0"/>
          </a:xfrm>
          <a:prstGeom prst="line">
            <a:avLst/>
          </a:prstGeom>
          <a:noFill/>
          <a:ln w="19050">
            <a:solidFill>
              <a:srgbClr val="0B2545"/>
            </a:solidFill>
            <a:prstDash val="solid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계층 (Ch 1-9) → 로직 분리 (Ch 10) → 룸 격리 (Ch 11) → 오목 게임 도메인 (Ch 12)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 / 41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오목 게임 클라이언트 구현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Win32 + GDI 기반 테스트 클라이언트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도구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54864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26974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구조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77240" y="3200400"/>
            <a:ext cx="49377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32918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UI Thread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" y="35661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WndProc / GDI Draw / Mouse Input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77240" y="4114800"/>
            <a:ext cx="49377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2062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Network Thread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44805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Connect / Send-Recv / 패킷 처리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77240" y="5029200"/>
            <a:ext cx="4937760" cy="77724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51206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Game State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14400" y="53949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Thread-Safe 공유 상태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309360" y="2606040"/>
            <a:ext cx="530352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309360" y="2606040"/>
            <a:ext cx="73152" cy="3657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37960" y="26974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학습 포인트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537960" y="329184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320040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Win32 메시지 루프 / WndProc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384048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74904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GDI로 19×19 오목판 렌더링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537960" y="438912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12280" y="429768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마우스 클릭 → 좌표 변환 → 패킷 전송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537960" y="493776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12280" y="484632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PostMessage로 UI ↔ Network 안전 통신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37960" y="5486400"/>
            <a:ext cx="164592" cy="16459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5394960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✗ 클라이언트는 IOCP 사용하지 않음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 / 41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테스트와 성능 측정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554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14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18745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TPS · Latency · CPU Usage 모두 함께 본다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772400" y="1554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6060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606040"/>
            <a:ext cx="73152" cy="365760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TPS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73152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Transactions per Sec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7947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초당 처리 가능한 트랜잭션 수.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오목에서는 "착수" 처리 횟수.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5349240"/>
            <a:ext cx="3291840" cy="777240"/>
          </a:xfrm>
          <a:prstGeom prst="rect">
            <a:avLst/>
          </a:prstGeom>
          <a:solidFill>
            <a:srgbClr val="00A6FB">
              <a:alpha val="15000"/>
            </a:srgbClr>
          </a:solidFill>
          <a:ln w="9525">
            <a:solidFill>
              <a:srgbClr val="00A6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349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 1,000+ TPS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389120" y="26060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89120" y="2606040"/>
            <a:ext cx="73152" cy="36576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57200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지연 시간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0" y="37947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요청 → 응답까지 시간.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평균보다 P99 지연이 더 중요.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0" y="5349240"/>
            <a:ext cx="3291840" cy="777240"/>
          </a:xfrm>
          <a:prstGeom prst="rect">
            <a:avLst/>
          </a:prstGeom>
          <a:solidFill>
            <a:srgbClr val="FFB627">
              <a:alpha val="15000"/>
            </a:srgbClr>
          </a:solidFill>
          <a:ln w="9525">
            <a:solidFill>
              <a:srgbClr val="FFB62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0" y="5349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 &lt; 100ms (P99)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229600" y="2606040"/>
            <a:ext cx="365760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229600" y="2606040"/>
            <a:ext cx="73152" cy="3657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0" y="27432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8412480" y="32918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사용률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8412480" y="379476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워커 풀이 코어를 얼마나 활용하는가.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 대기로 낮으면 병목이 있다.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12480" y="5349240"/>
            <a:ext cx="3291840" cy="777240"/>
          </a:xfrm>
          <a:prstGeom prst="rect">
            <a:avLst/>
          </a:prstGeom>
          <a:solidFill>
            <a:srgbClr val="EF4444">
              <a:alpha val="15000"/>
            </a:srgbClr>
          </a:solidFill>
          <a:ln w="9525">
            <a:solidFill>
              <a:srgbClr val="EF444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0" y="5349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목표:  70 ~ 85%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 / 41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더미 클라이언트로 부하 시뮬레이션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46634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91640"/>
            <a:ext cx="5120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Dummy Client 설계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 ~ 1,000명의 가상 클라이언트를 시뮬레이션해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동접 환경을 재현한다.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310896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31089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80160" y="310896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소켓으로 다중 연결 동시 유지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365760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57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80160" y="365760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랜덤 시나리오: 로그인 → 매칭 → 게임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420624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42062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80160" y="4206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시작 시각 / 응답 시각 정밀 기록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" y="475488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77240" y="4754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475488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P50, P95, P99 백분위수 통계 산출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77240" y="5303520"/>
            <a:ext cx="365760" cy="365760"/>
          </a:xfrm>
          <a:prstGeom prst="ellipse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5303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280160" y="530352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TPS / Throughput / Error율 모니터링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09360" y="1554480"/>
            <a:ext cx="530352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09360" y="1554480"/>
            <a:ext cx="73152" cy="46634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37960" y="1691640"/>
            <a:ext cx="4937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VS Profiler로 병목 추적</a:t>
            </a:r>
            <a:endParaRPr lang="en-US" sz="1700" dirty="0"/>
          </a:p>
        </p:txBody>
      </p:sp>
      <p:sp>
        <p:nvSpPr>
          <p:cNvPr id="29" name="Shape 27"/>
          <p:cNvSpPr/>
          <p:nvPr/>
        </p:nvSpPr>
        <p:spPr>
          <a:xfrm>
            <a:off x="6537960" y="2240280"/>
            <a:ext cx="493776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675120" y="22860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Sampling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675120" y="260604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핫스팟 함수와 Call Tree 식별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537960" y="3017520"/>
            <a:ext cx="493776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306324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Concurrency Visualizer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6675120" y="338328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스레드 경합 / 락 대기 분석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37960" y="3794760"/>
            <a:ext cx="493776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75120" y="38404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Memory Profiler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6675120" y="416052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할당 추적 · 누수 탐지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37960" y="4572000"/>
            <a:ext cx="493776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675120" y="461772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PerfView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6675120" y="493776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ETW 이벤트 기반 정밀 추적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537960" y="5349240"/>
            <a:ext cx="4937760" cy="68580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675120" y="539496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Custom Counters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6675120" y="5715000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GetProcessTimes · 성능 카운터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 / 41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 14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흔히 마주치는 병목과 처방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329184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544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증상 분류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40480" y="1554480"/>
            <a:ext cx="347472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5544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관찰되는 현상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315200" y="1554480"/>
            <a:ext cx="4480560" cy="64008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52360" y="15544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처방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2194560"/>
            <a:ext cx="3291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21945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할당 지연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219456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77640" y="21945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TPS 정체, Heap 단편화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0" y="2194560"/>
            <a:ext cx="44805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52360" y="21945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 Pool, TLS Allocator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2834640"/>
            <a:ext cx="32918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28346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락 경합 (Lock contention)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840480" y="2834640"/>
            <a:ext cx="347472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977640" y="283464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CPU 낮은데 처리량 ↓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315200" y="2834640"/>
            <a:ext cx="448056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283464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Lock-Free Queue, Per-Session Lock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474720"/>
            <a:ext cx="3291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85800" y="34747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False Sharing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840480" y="347472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77640" y="347472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코어 수 늘어도 선형 증가 안됨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7315200" y="3474720"/>
            <a:ext cx="44805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52360" y="34747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Cache-line 정렬, Padding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548640" y="4114800"/>
            <a:ext cx="32918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5800" y="41148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메모리 복사 과다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840480" y="4114800"/>
            <a:ext cx="347472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977640" y="411480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Worker가 memcpy에 시간 소비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7315200" y="4114800"/>
            <a:ext cx="448056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52360" y="41148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Zero-Copy, Scatter-Gather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548640" y="4754880"/>
            <a:ext cx="32918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7548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Logger 동기 IO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3840480" y="4754880"/>
            <a:ext cx="34747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475488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시점 대량 지연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315200" y="4754880"/>
            <a:ext cx="448056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52360" y="475488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Async Logger, 배치 Flush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548640" y="5394960"/>
            <a:ext cx="329184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85800" y="53949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GC/Major Pause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3840480" y="5394960"/>
            <a:ext cx="347472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77640" y="53949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주기적 P99 스파이크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7315200" y="5394960"/>
            <a:ext cx="4480560" cy="64008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52360" y="539496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Pre-allocate, 풀 재사용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31 / 41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108960"/>
            <a:ext cx="12161520" cy="54864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5603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8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29184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548640" y="42976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책으로 무엇을 얻고, 어디로 나아갈 것인가</a:t>
            </a:r>
            <a:endParaRPr 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정리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책만의 차별점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219456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828800"/>
            <a:ext cx="640080" cy="640080"/>
          </a:xfrm>
          <a:prstGeom prst="ellipse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▲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554480" y="1828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스프린트 학습 구조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22960" y="2560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총 14장을 7일에 나누어 "한 주" 안에 IOCP 서버를 만든다는 명확한 목표를 제공한다.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72200" y="155448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554480"/>
            <a:ext cx="73152" cy="219456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0" y="1828800"/>
            <a:ext cx="640080" cy="640080"/>
          </a:xfrm>
          <a:prstGeom prst="ellipse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0" y="18288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◆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7178040" y="182880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이론 → 코드 → 시각화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46520" y="256032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개념은 그림 / 도표 / 실제 동작 코드 3종 세트로 설명되어 있다.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388620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88620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4160520"/>
            <a:ext cx="640080" cy="64008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41605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패턴 중심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822960" y="4892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Object Pool, Actor, Room, Lock-Free 등 현장에서 쓰이는 패턴을 그대로 다룬다.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72200" y="3886200"/>
            <a:ext cx="548640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72200" y="3886200"/>
            <a:ext cx="73152" cy="2194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0" y="4160520"/>
            <a:ext cx="640080" cy="64008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0" y="41605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▼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7178040" y="416052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측정·분석까지 한 번에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6446520" y="489204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구현으로 끝이 아니라 부하 시뮬레이션, 프로파일링, 병목 처방까지 포함한다.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33 / 41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정리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끝낸 직후 가능한 일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08760"/>
            <a:ext cx="7315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162763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6276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5087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수만 명 동접 처리가 가능한 IOCP 서버를 직접 구축할 수 있다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14884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148840"/>
            <a:ext cx="7315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226771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22677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21488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Overlapped I/O / 비동기 워커 모델에 대한 직관을 가진다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278892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2788920"/>
            <a:ext cx="7315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77240" y="290779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29077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78892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프로토콜을 새로 설계하고 직렬화 코드를 작성할 수 있다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342900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3429000"/>
            <a:ext cx="7315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7240" y="354787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54787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80160" y="342900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Ring Buffer / Object Pool / Lock-Free 자료구조를 도입할 수 있다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4069080"/>
            <a:ext cx="7315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77240" y="418795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418795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280160" y="406908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I/O 스레드와 게임 로직을 분리한 아키텍처를 설계할 수 있다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548640" y="470916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48640" y="4709160"/>
            <a:ext cx="7315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77240" y="482803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7240" y="482803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1280160" y="470916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프로파일러로 병목을 찾고 실측 기반으로 최적화할 수 있다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48640" y="5349240"/>
            <a:ext cx="11064240" cy="5486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5349240"/>
            <a:ext cx="73152" cy="548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77240" y="5468112"/>
            <a:ext cx="320040" cy="3200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77240" y="54681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1280160" y="5349240"/>
            <a:ext cx="10241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이력서·면접에서 "IOCP 기반 서버 구축 경험" 항목을 쓸 수 있다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34 / 41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정리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곡선과 실력 단계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554480"/>
          <a:ext cx="68580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554480"/>
            <a:ext cx="3840480" cy="46634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0" y="1554480"/>
            <a:ext cx="73152" cy="46634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단계별 도달점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55280" y="2240280"/>
            <a:ext cx="3520440" cy="8229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092440" y="23317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92440" y="26060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Echo 서버 동작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3200400"/>
            <a:ext cx="3520440" cy="8229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092440" y="3291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092440" y="35661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라우팅 가능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55280" y="4160520"/>
            <a:ext cx="3520440" cy="8229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092440" y="42519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5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8092440" y="452628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수천 명 동접 처리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955280" y="5120640"/>
            <a:ext cx="3520440" cy="822960"/>
          </a:xfrm>
          <a:prstGeom prst="rect">
            <a:avLst/>
          </a:prstGeom>
          <a:solidFill>
            <a:srgbClr val="EFF6FF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92440" y="52120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7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8092440" y="548640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성능 튜닝 가능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 / 41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정리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 다음의 학습 로드맵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087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08760"/>
            <a:ext cx="73152" cy="77724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5544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0A6F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분산 / 클러스터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0" y="15087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프로세스 → 다중 인스턴스 / Redis Pub-Sub 도입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24231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23160"/>
            <a:ext cx="73152" cy="77724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4688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27889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보안 / 안티치트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14800" y="24231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패킷 암호화, 무결성 검증, 봇/매크로 탐지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3375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337560"/>
            <a:ext cx="73152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3832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77240" y="37033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 영속화 계층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114800" y="33375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비동기 DB 쿼리, ORM, Sharding 전략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2519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251960"/>
            <a:ext cx="73152" cy="77724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2976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77240" y="46177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모니터링 / 로그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114800" y="42519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OpenTelemetry, Prometheus, Grafana 대시보드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48640" y="5166360"/>
            <a:ext cx="1106424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5166360"/>
            <a:ext cx="73152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21208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단계 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55321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리눅스 epoll 학습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114800" y="516636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Linux 환경의 IOCP 대응 모델, kqueue 비교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36 / 41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B254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371600"/>
            <a:ext cx="914400" cy="0"/>
          </a:xfrm>
          <a:prstGeom prst="line">
            <a:avLst/>
          </a:prstGeom>
          <a:noFill/>
          <a:ln w="38100">
            <a:solidFill>
              <a:srgbClr val="FFB62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5544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KEY MESSAGE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194560"/>
            <a:ext cx="11430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"동작하는 서버"에서 "운영 가능한 서버"로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책은 단순한 IOCP 튜토리얼이 아니다.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실무에서 통하는 게임 서버를 만들기 위한 "사고의 틀"을 제공한다.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4572000"/>
            <a:ext cx="3611880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4663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이해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5212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그렇게 해야 하는가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343400" y="4572000"/>
            <a:ext cx="3611880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43400" y="4663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526280" y="5212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어떻게 코드로 옮기는가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38160" y="4572000"/>
            <a:ext cx="3611880" cy="1554480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38160" y="466344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321040" y="5212080"/>
            <a:ext cx="32461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실측으로 무엇을 확인할 것인가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정리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책을 숫자로 보면</a:t>
            </a:r>
            <a:endParaRPr lang="en-US" sz="3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48640" y="1554480"/>
          <a:ext cx="685800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7772400" y="1554480"/>
            <a:ext cx="384048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7772400" y="1554480"/>
            <a:ext cx="73152" cy="45720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955280" y="1691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통계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955280" y="2953512"/>
            <a:ext cx="35204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955280" y="22402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9418320" y="22402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Chapter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7955280" y="3730752"/>
            <a:ext cx="35204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30175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9418320" y="30175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7955280" y="4507992"/>
            <a:ext cx="35204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7955280" y="3794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2800" dirty="0"/>
          </a:p>
        </p:txBody>
      </p:sp>
      <p:sp>
        <p:nvSpPr>
          <p:cNvPr id="19" name="Text 16"/>
          <p:cNvSpPr/>
          <p:nvPr/>
        </p:nvSpPr>
        <p:spPr>
          <a:xfrm>
            <a:off x="9418320" y="37947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학습 영역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7955280" y="5285232"/>
            <a:ext cx="35204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0" y="4572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10+</a:t>
            </a:r>
            <a:endParaRPr lang="en-US" sz="2800" dirty="0"/>
          </a:p>
        </p:txBody>
      </p:sp>
      <p:sp>
        <p:nvSpPr>
          <p:cNvPr id="22" name="Text 19"/>
          <p:cNvSpPr/>
          <p:nvPr/>
        </p:nvSpPr>
        <p:spPr>
          <a:xfrm>
            <a:off x="9418320" y="45720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패턴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7955280" y="6062472"/>
            <a:ext cx="352044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55280" y="53492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100%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9418320" y="5349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동작 가능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38 / 41</a:t>
            </a:r>
            <a:endParaRPr lang="en-US" sz="9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46304"/>
            <a:ext cx="548640" cy="164592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73152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05. 정리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0" y="73152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IOCP 게임 서버 프로그래밍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6400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발표 한 페이지 요약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155448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54480"/>
            <a:ext cx="73152" cy="82296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164592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6459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개요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0" y="16459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 / 14장 / C++20 / Windows IOCP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514600"/>
            <a:ext cx="73152" cy="82296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" y="26060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377440" y="260604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IOCP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486400" y="260604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Completion 기반의 패러다임 + 4대 장점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48640" y="3474720"/>
            <a:ext cx="73152" cy="82296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3566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377440" y="356616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챕터별 핵심 기술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486400" y="356616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Ch1~11 — 네트워크 → 버퍼 → 패킷 → 동기화 → 아키텍처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48640" y="443484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48640" y="4434840"/>
            <a:ext cx="73152" cy="82296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45262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377440" y="452628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실전 프로젝트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5486400" y="452628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Ch12~14 — 오목 게임 서버/클라이언트 + 성능 측정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5394960"/>
            <a:ext cx="1106424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" y="5394960"/>
            <a:ext cx="73152" cy="822960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54864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377440" y="5486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254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486400" y="548640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차별점 · 학습 후 가능한 것 · 다음 단계 로드맵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6446520"/>
            <a:ext cx="11247120" cy="0"/>
          </a:xfrm>
          <a:prstGeom prst="line">
            <a:avLst/>
          </a:prstGeom>
          <a:noFill/>
          <a:ln w="9525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 · 최흥배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332720" y="651052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39 / 41</a:t>
            </a:r>
            <a:endParaRPr lang="en-US" sz="9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0"/>
          </a:xfrm>
          <a:prstGeom prst="rect">
            <a:avLst/>
          </a:prstGeom>
          <a:solidFill>
            <a:srgbClr val="0B2545"/>
          </a:solidFill>
          <a:ln w="12700">
            <a:solidFill>
              <a:srgbClr val="0B254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0" y="2194560"/>
            <a:ext cx="121615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9600" dirty="0"/>
          </a:p>
        </p:txBody>
      </p:sp>
      <p:sp>
        <p:nvSpPr>
          <p:cNvPr id="4" name="Shape 2"/>
          <p:cNvSpPr/>
          <p:nvPr/>
        </p:nvSpPr>
        <p:spPr>
          <a:xfrm>
            <a:off x="4572000" y="3749040"/>
            <a:ext cx="3017520" cy="0"/>
          </a:xfrm>
          <a:prstGeom prst="line">
            <a:avLst/>
          </a:prstGeom>
          <a:noFill/>
          <a:ln w="38100">
            <a:solidFill>
              <a:srgbClr val="FFB6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0" y="3931920"/>
            <a:ext cx="12161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질문 / 의견 / 토론 환영합니다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"실무 적용 시 가장 큰 함정은?"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0" y="5029200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54880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"epoll vs IOCP 어디가 더 좋은가?"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412480" y="5029200"/>
            <a:ext cx="3566160" cy="1097280"/>
          </a:xfrm>
          <a:prstGeom prst="roundRect">
            <a:avLst>
              <a:gd name="adj" fmla="val 4167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95360" y="50292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"AI 시대의 네트워크 프로그래머의 역할은?"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6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FFB627"/>
          </a:solidFill>
          <a:ln w="12700">
            <a:solidFill>
              <a:srgbClr val="FFB6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6309360"/>
            <a:ext cx="3657600" cy="54864"/>
          </a:xfrm>
          <a:prstGeom prst="rect">
            <a:avLst/>
          </a:prstGeom>
          <a:solidFill>
            <a:srgbClr val="00A6FB"/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9144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1200" kern="0" dirty="0">
                <a:solidFill>
                  <a:srgbClr val="FFB6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THANK YOU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55448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972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게임 서버 개발자의 여정에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작은 길잡이가 되었기를 바라며.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4846320"/>
            <a:ext cx="7315200" cy="11887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0A6F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93776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1주일만에 배우는 IOCP 게임 서버 프로그래밍
</a:t>
            </a:r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저자 최흥배 · AI-Assisted · C++20 · Visual Studio 2022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1주일만에 배우는 IOCP 게임 서버 프로그래밍</dc:title>
  <dc:subject>PptxGenJS Presentation</dc:subject>
  <dc:creator>최흥배</dc:creator>
  <cp:lastModifiedBy>최흥배</cp:lastModifiedBy>
  <cp:revision>1</cp:revision>
  <dcterms:created xsi:type="dcterms:W3CDTF">2026-04-29T14:19:16Z</dcterms:created>
  <dcterms:modified xsi:type="dcterms:W3CDTF">2026-04-29T14:19:16Z</dcterms:modified>
</cp:coreProperties>
</file>